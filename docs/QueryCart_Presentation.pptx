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b68c314eb24fd5" /><Relationship Type="http://schemas.openxmlformats.org/officeDocument/2006/relationships/extended-properties" Target="/docProps/app.xml" Id="R7c8afc86087549af" /><Relationship Type="http://schemas.openxmlformats.org/officeDocument/2006/relationships/officeDocument" Target="/ppt/presentation.xml" Id="R821cdf17c98440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b0c82fb40a4a60"/>
  </p:sldMasterIdLst>
  <p:notesMasterIdLst>
    <p:notesMasterId xmlns:r="http://schemas.openxmlformats.org/officeDocument/2006/relationships" r:id="R84dd8107ea9f4c14"/>
  </p:notesMasterIdLst>
  <p:sldIdLst>
    <p:sldId xmlns:r="http://schemas.openxmlformats.org/officeDocument/2006/relationships" id="256" r:id="R50c10d3a8e6f4aef"/>
    <p:sldId xmlns:r="http://schemas.openxmlformats.org/officeDocument/2006/relationships" id="257" r:id="R864c897944594760"/>
    <p:sldId xmlns:r="http://schemas.openxmlformats.org/officeDocument/2006/relationships" id="258" r:id="R54c45bed2e3244cd"/>
    <p:sldId xmlns:r="http://schemas.openxmlformats.org/officeDocument/2006/relationships" id="259" r:id="R66cd467c983041ab"/>
    <p:sldId xmlns:r="http://schemas.openxmlformats.org/officeDocument/2006/relationships" id="260" r:id="R99adc4ad522542e1"/>
    <p:sldId xmlns:r="http://schemas.openxmlformats.org/officeDocument/2006/relationships" id="261" r:id="R554f96d8b4034ec2"/>
    <p:sldId xmlns:r="http://schemas.openxmlformats.org/officeDocument/2006/relationships" id="262" r:id="R10fdcaa64c304dd7"/>
    <p:sldId xmlns:r="http://schemas.openxmlformats.org/officeDocument/2006/relationships" id="263" r:id="R985c46fd97734a5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05b72df582e40d3" /><Relationship Type="http://schemas.openxmlformats.org/officeDocument/2006/relationships/slideMaster" Target="/ppt/slideMasters/slideMaster1.xml" Id="Re2b0c82fb40a4a60" /><Relationship Type="http://schemas.openxmlformats.org/officeDocument/2006/relationships/notesMaster" Target="/ppt/notesMasters/notesMaster1.xml" Id="R84dd8107ea9f4c14" /><Relationship Type="http://schemas.openxmlformats.org/officeDocument/2006/relationships/presProps" Target="/ppt/presProps.xml" Id="R70af3f8796e044e7" /><Relationship Type="http://schemas.openxmlformats.org/officeDocument/2006/relationships/tableStyles" Target="/ppt/tableStyles.xml" Id="R6686953218f945e7" /><Relationship Type="http://schemas.openxmlformats.org/officeDocument/2006/relationships/slide" Target="/ppt/slides/slide1.xml" Id="R50c10d3a8e6f4aef" /><Relationship Type="http://schemas.openxmlformats.org/officeDocument/2006/relationships/slide" Target="/ppt/slides/slide2.xml" Id="R864c897944594760" /><Relationship Type="http://schemas.openxmlformats.org/officeDocument/2006/relationships/slide" Target="/ppt/slides/slide3.xml" Id="R54c45bed2e3244cd" /><Relationship Type="http://schemas.openxmlformats.org/officeDocument/2006/relationships/slide" Target="/ppt/slides/slide4.xml" Id="R66cd467c983041ab" /><Relationship Type="http://schemas.openxmlformats.org/officeDocument/2006/relationships/slide" Target="/ppt/slides/slide5.xml" Id="R99adc4ad522542e1" /><Relationship Type="http://schemas.openxmlformats.org/officeDocument/2006/relationships/slide" Target="/ppt/slides/slide6.xml" Id="R554f96d8b4034ec2" /><Relationship Type="http://schemas.openxmlformats.org/officeDocument/2006/relationships/slide" Target="/ppt/slides/slide7.xml" Id="R10fdcaa64c304dd7" /><Relationship Type="http://schemas.openxmlformats.org/officeDocument/2006/relationships/slide" Target="/ppt/slides/slide8.xml" Id="R985c46fd97734a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7e2e32b4d2f4a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d399d1a6f6547a8" /><Relationship Type="http://schemas.openxmlformats.org/officeDocument/2006/relationships/notesMaster" Target="/ppt/notesMasters/notesMaster1.xml" Id="R1392a5e224a9461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4699bc096434fc0" /><Relationship Type="http://schemas.openxmlformats.org/officeDocument/2006/relationships/notesMaster" Target="/ppt/notesMasters/notesMaster1.xml" Id="Rd3592c985a71473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40f05985a5a4d44" /><Relationship Type="http://schemas.openxmlformats.org/officeDocument/2006/relationships/notesMaster" Target="/ppt/notesMasters/notesMaster1.xml" Id="Raa66e4ca5905422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23b89dc4cb5477e" /><Relationship Type="http://schemas.openxmlformats.org/officeDocument/2006/relationships/notesMaster" Target="/ppt/notesMasters/notesMaster1.xml" Id="R9a562f3ba815465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c9813270b5e4177" /><Relationship Type="http://schemas.openxmlformats.org/officeDocument/2006/relationships/notesMaster" Target="/ppt/notesMasters/notesMaster1.xml" Id="R7b98e6173353469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b991fbc3ed24ac0" /><Relationship Type="http://schemas.openxmlformats.org/officeDocument/2006/relationships/notesMaster" Target="/ppt/notesMasters/notesMaster1.xml" Id="Radde3413e8164f8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28c5c50d5154cd9" /><Relationship Type="http://schemas.openxmlformats.org/officeDocument/2006/relationships/notesMaster" Target="/ppt/notesMasters/notesMaster1.xml" Id="Rc14b9d34529b4df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b0e035c72ad4f1d" /><Relationship Type="http://schemas.openxmlformats.org/officeDocument/2006/relationships/notesMaster" Target="/ppt/notesMasters/notesMaster1.xml" Id="R7e633fe84f644b3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Jurafsky and Martin, Speech and Language Processing: https://web.stanford.edu/~jurafsky/slp3/</a:t>
            </a:r>
          </a:p>
          <a:p xmlns:a="http://schemas.openxmlformats.org/drawingml/2006/main">
            <a:r>
              <a:t>SQLite SELECT documentation: https://www.sqlite.org/lang_select.html</a:t>
            </a:r>
          </a:p>
          <a:p xmlns:a="http://schemas.openxmlformats.org/drawingml/2006/main">
            <a:r>
              <a:t>Live demo: querycart-dhruv.vercel.app: https://querycart-dhruv.vercel.app</a:t>
            </a:r>
          </a:p>
          <a:p xmlns:a="http://schemas.openxmlformats.org/drawingml/2006/main">
            <a:r>
              <a:t>Source code: github.com/dhruvpaleja/querycart-nlp: https://github.com/dhruvpaleja/querycart-nlp</a:t>
            </a:r>
          </a:p>
          <a:p xmlns:a="http://schemas.openxmlformats.org/drawingml/2006/main">
            <a:r>
              <a:t>Project source: querycart/README.md</a:t>
            </a:r>
          </a:p>
          <a:p xmlns:a="http://schemas.openxmlformats.org/drawingml/2006/main">
            <a:r>
              <a:t>Measured results: querycart/public/evaluation.json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Jurafsky and Martin, Speech and Language Processing: https://web.stanford.edu/~jurafsky/slp3/</a:t>
            </a:r>
          </a:p>
          <a:p xmlns:a="http://schemas.openxmlformats.org/drawingml/2006/main">
            <a:r>
              <a:t>SQLite SELECT documentation: https://www.sqlite.org/lang_select.html</a:t>
            </a:r>
          </a:p>
          <a:p xmlns:a="http://schemas.openxmlformats.org/drawingml/2006/main">
            <a:r>
              <a:t>Live demo: querycart-dhruv.vercel.app: https://querycart-dhruv.vercel.app</a:t>
            </a:r>
          </a:p>
          <a:p xmlns:a="http://schemas.openxmlformats.org/drawingml/2006/main">
            <a:r>
              <a:t>Source code: github.com/dhruvpaleja/querycart-nlp: https://github.com/dhruvpaleja/querycart-nlp</a:t>
            </a:r>
          </a:p>
          <a:p xmlns:a="http://schemas.openxmlformats.org/drawingml/2006/main">
            <a:r>
              <a:t>Project source: querycart/README.md</a:t>
            </a:r>
          </a:p>
          <a:p xmlns:a="http://schemas.openxmlformats.org/drawingml/2006/main">
            <a:r>
              <a:t>Measured results: querycart/public/evaluation.json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Jurafsky and Martin, Speech and Language Processing: https://web.stanford.edu/~jurafsky/slp3/</a:t>
            </a:r>
          </a:p>
          <a:p xmlns:a="http://schemas.openxmlformats.org/drawingml/2006/main">
            <a:r>
              <a:t>SQLite SELECT documentation: https://www.sqlite.org/lang_select.html</a:t>
            </a:r>
          </a:p>
          <a:p xmlns:a="http://schemas.openxmlformats.org/drawingml/2006/main">
            <a:r>
              <a:t>Live demo: querycart-dhruv.vercel.app: https://querycart-dhruv.vercel.app</a:t>
            </a:r>
          </a:p>
          <a:p xmlns:a="http://schemas.openxmlformats.org/drawingml/2006/main">
            <a:r>
              <a:t>Source code: github.com/dhruvpaleja/querycart-nlp: https://github.com/dhruvpaleja/querycart-nlp</a:t>
            </a:r>
          </a:p>
          <a:p xmlns:a="http://schemas.openxmlformats.org/drawingml/2006/main">
            <a:r>
              <a:t>Project source: querycart/README.md</a:t>
            </a:r>
          </a:p>
          <a:p xmlns:a="http://schemas.openxmlformats.org/drawingml/2006/main">
            <a:r>
              <a:t>Measured results: querycart/public/evaluation.json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Jurafsky and Martin, Speech and Language Processing: https://web.stanford.edu/~jurafsky/slp3/</a:t>
            </a:r>
          </a:p>
          <a:p xmlns:a="http://schemas.openxmlformats.org/drawingml/2006/main">
            <a:r>
              <a:t>SQLite SELECT documentation: https://www.sqlite.org/lang_select.html</a:t>
            </a:r>
          </a:p>
          <a:p xmlns:a="http://schemas.openxmlformats.org/drawingml/2006/main">
            <a:r>
              <a:t>Live demo: querycart-dhruv.vercel.app: https://querycart-dhruv.vercel.app</a:t>
            </a:r>
          </a:p>
          <a:p xmlns:a="http://schemas.openxmlformats.org/drawingml/2006/main">
            <a:r>
              <a:t>Source code: github.com/dhruvpaleja/querycart-nlp: https://github.com/dhruvpaleja/querycart-nlp</a:t>
            </a:r>
          </a:p>
          <a:p xmlns:a="http://schemas.openxmlformats.org/drawingml/2006/main">
            <a:r>
              <a:t>Project source: querycart/README.md</a:t>
            </a:r>
          </a:p>
          <a:p xmlns:a="http://schemas.openxmlformats.org/drawingml/2006/main">
            <a:r>
              <a:t>Measured results: querycart/public/evaluation.json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Example illustrates the application workflow. Exact output depends on the entered text and selected review choices.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Jurafsky and Martin, Speech and Language Processing: https://web.stanford.edu/~jurafsky/slp3/</a:t>
            </a:r>
          </a:p>
          <a:p xmlns:a="http://schemas.openxmlformats.org/drawingml/2006/main">
            <a:r>
              <a:t>SQLite SELECT documentation: https://www.sqlite.org/lang_select.html</a:t>
            </a:r>
          </a:p>
          <a:p xmlns:a="http://schemas.openxmlformats.org/drawingml/2006/main">
            <a:r>
              <a:t>Live demo: querycart-dhruv.vercel.app: https://querycart-dhruv.vercel.app</a:t>
            </a:r>
          </a:p>
          <a:p xmlns:a="http://schemas.openxmlformats.org/drawingml/2006/main">
            <a:r>
              <a:t>Source code: github.com/dhruvpaleja/querycart-nlp: https://github.com/dhruvpaleja/querycart-nlp</a:t>
            </a:r>
          </a:p>
          <a:p xmlns:a="http://schemas.openxmlformats.org/drawingml/2006/main">
            <a:r>
              <a:t>Project source: querycart/README.md</a:t>
            </a:r>
          </a:p>
          <a:p xmlns:a="http://schemas.openxmlformats.org/drawingml/2006/main">
            <a:r>
              <a:t>Measured results: querycart/public/evaluation.json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present authored diagnostics or implementation checks as general real-world model accuracy.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Jurafsky and Martin, Speech and Language Processing: https://web.stanford.edu/~jurafsky/slp3/</a:t>
            </a:r>
          </a:p>
          <a:p xmlns:a="http://schemas.openxmlformats.org/drawingml/2006/main">
            <a:r>
              <a:t>SQLite SELECT documentation: https://www.sqlite.org/lang_select.html</a:t>
            </a:r>
          </a:p>
          <a:p xmlns:a="http://schemas.openxmlformats.org/drawingml/2006/main">
            <a:r>
              <a:t>Live demo: querycart-dhruv.vercel.app: https://querycart-dhruv.vercel.app</a:t>
            </a:r>
          </a:p>
          <a:p xmlns:a="http://schemas.openxmlformats.org/drawingml/2006/main">
            <a:r>
              <a:t>Source code: github.com/dhruvpaleja/querycart-nlp: https://github.com/dhruvpaleja/querycart-nlp</a:t>
            </a:r>
          </a:p>
          <a:p xmlns:a="http://schemas.openxmlformats.org/drawingml/2006/main">
            <a:r>
              <a:t>Project source: querycart/README.md</a:t>
            </a:r>
          </a:p>
          <a:p xmlns:a="http://schemas.openxmlformats.org/drawingml/2006/main">
            <a:r>
              <a:t>Measured results: querycart/public/evaluation.json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Jurafsky and Martin, Speech and Language Processing: https://web.stanford.edu/~jurafsky/slp3/</a:t>
            </a:r>
          </a:p>
          <a:p xmlns:a="http://schemas.openxmlformats.org/drawingml/2006/main">
            <a:r>
              <a:t>SQLite SELECT documentation: https://www.sqlite.org/lang_select.html</a:t>
            </a:r>
          </a:p>
          <a:p xmlns:a="http://schemas.openxmlformats.org/drawingml/2006/main">
            <a:r>
              <a:t>Live demo: querycart-dhruv.vercel.app: https://querycart-dhruv.vercel.app</a:t>
            </a:r>
          </a:p>
          <a:p xmlns:a="http://schemas.openxmlformats.org/drawingml/2006/main">
            <a:r>
              <a:t>Source code: github.com/dhruvpaleja/querycart-nlp: https://github.com/dhruvpaleja/querycart-nlp</a:t>
            </a:r>
          </a:p>
          <a:p xmlns:a="http://schemas.openxmlformats.org/drawingml/2006/main">
            <a:r>
              <a:t>Project source: querycart/README.md</a:t>
            </a:r>
          </a:p>
          <a:p xmlns:a="http://schemas.openxmlformats.org/drawingml/2006/main">
            <a:r>
              <a:t>Measured results: querycart/public/evaluation.json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Jurafsky and Martin, Speech and Language Processing: https://web.stanford.edu/~jurafsky/slp3/</a:t>
            </a:r>
          </a:p>
          <a:p xmlns:a="http://schemas.openxmlformats.org/drawingml/2006/main">
            <a:r>
              <a:t>SQLite SELECT documentation: https://www.sqlite.org/lang_select.html</a:t>
            </a:r>
          </a:p>
          <a:p xmlns:a="http://schemas.openxmlformats.org/drawingml/2006/main">
            <a:r>
              <a:t>Live demo: querycart-dhruv.vercel.app: https://querycart-dhruv.vercel.app</a:t>
            </a:r>
          </a:p>
          <a:p xmlns:a="http://schemas.openxmlformats.org/drawingml/2006/main">
            <a:r>
              <a:t>Source code: github.com/dhruvpaleja/querycart-nlp: https://github.com/dhruvpaleja/querycart-nlp</a:t>
            </a:r>
          </a:p>
          <a:p xmlns:a="http://schemas.openxmlformats.org/drawingml/2006/main">
            <a:r>
              <a:t>Project source: querycart/README.md</a:t>
            </a:r>
          </a:p>
          <a:p xmlns:a="http://schemas.openxmlformats.org/drawingml/2006/main">
            <a:r>
              <a:t>Measured results: querycart/public/evaluation.json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6df0e0590f45d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4d1e2f20694ab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f72a268f55429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9f091b2abd4fc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7c386e9f18463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e8577c042f44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99EC0BF-4D05-4054-9E99-098FC1D104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6CFE714-EBC1-4D97-9847-637524BCF83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B5B0BC6-46FC-4C2B-BCE1-7B2F50357C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8F1E020-7E31-4FEF-A209-1175E36507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882AAF1-0BD3-4883-BF6E-E9A0B47BCD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0BD5E4A-428F-4F81-91F6-C231644E0B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C61EFA7-C78B-4D12-88A1-F39EA1DAE6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4C242E9-C39E-44B2-A5B0-6A73777C5FB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7AC431A-5D91-48A8-8E4D-53729A865F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61F1055-2613-4813-A6C9-255FB48DF0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b9f27fa25249e7" /><Relationship Type="http://schemas.openxmlformats.org/officeDocument/2006/relationships/slideLayout" Target="/ppt/slideLayouts/slideLayout1.xml" Id="R1cd0dd2cf60c477e" /><Relationship Type="http://schemas.openxmlformats.org/officeDocument/2006/relationships/slideLayout" Target="/ppt/slideLayouts/slideLayout2.xml" Id="Rab53100998624449" /><Relationship Type="http://schemas.openxmlformats.org/officeDocument/2006/relationships/slideLayout" Target="/ppt/slideLayouts/slideLayout3.xml" Id="Rf585367eecb844b7" /><Relationship Type="http://schemas.openxmlformats.org/officeDocument/2006/relationships/slideLayout" Target="/ppt/slideLayouts/slideLayout4.xml" Id="R5adef7b2cfb94b70" /><Relationship Type="http://schemas.openxmlformats.org/officeDocument/2006/relationships/slideLayout" Target="/ppt/slideLayouts/slideLayout5.xml" Id="Rd6cf777c6c8f4090" /><Relationship Type="http://schemas.openxmlformats.org/officeDocument/2006/relationships/slideLayout" Target="/ppt/slideLayouts/slideLayout6.xml" Id="R275c4b912c024a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d0dd2cf60c477e"/>
    <p:sldLayoutId xmlns:r="http://schemas.openxmlformats.org/officeDocument/2006/relationships" id="2147483650" r:id="Rab53100998624449"/>
    <p:sldLayoutId xmlns:r="http://schemas.openxmlformats.org/officeDocument/2006/relationships" id="2147483651" r:id="Rf585367eecb844b7"/>
    <p:sldLayoutId xmlns:r="http://schemas.openxmlformats.org/officeDocument/2006/relationships" id="2147483652" r:id="R5adef7b2cfb94b70"/>
    <p:sldLayoutId xmlns:r="http://schemas.openxmlformats.org/officeDocument/2006/relationships" id="2147483653" r:id="Rd6cf777c6c8f4090"/>
    <p:sldLayoutId xmlns:r="http://schemas.openxmlformats.org/officeDocument/2006/relationships" id="2147483654" r:id="R275c4b912c024a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ea476cb0a44776" /><Relationship Type="http://schemas.openxmlformats.org/officeDocument/2006/relationships/notesSlide" Target="/ppt/notesSlides/notesSlide1.xml" Id="R62ded612c4cb41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b30e32d4504b1c" /><Relationship Type="http://schemas.openxmlformats.org/officeDocument/2006/relationships/notesSlide" Target="/ppt/notesSlides/notesSlide2.xml" Id="R4954c1ad6b1f4f2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61b68e96c64476" /><Relationship Type="http://schemas.openxmlformats.org/officeDocument/2006/relationships/notesSlide" Target="/ppt/notesSlides/notesSlide3.xml" Id="R57d7ce2e8d43495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29e1bdf27f4bc1" /><Relationship Type="http://schemas.openxmlformats.org/officeDocument/2006/relationships/notesSlide" Target="/ppt/notesSlides/notesSlide4.xml" Id="R50f4c721cfb14c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65c27686314b18" /><Relationship Type="http://schemas.openxmlformats.org/officeDocument/2006/relationships/notesSlide" Target="/ppt/notesSlides/notesSlide5.xml" Id="R0edf6545832047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2330a893cd487b" /><Relationship Type="http://schemas.openxmlformats.org/officeDocument/2006/relationships/notesSlide" Target="/ppt/notesSlides/notesSlide6.xml" Id="Rb8f7ed7bcc594e6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49b85ef3294748" /><Relationship Type="http://schemas.openxmlformats.org/officeDocument/2006/relationships/notesSlide" Target="/ppt/notesSlides/notesSlide7.xml" Id="R79bda0ce72fd4de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002ad03d3e4105" /><Relationship Type="http://schemas.openxmlformats.org/officeDocument/2006/relationships/notesSlide" Target="/ppt/notesSlides/notesSlide8.xml" Id="Rfdbe8489771c4da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C15D16-B784-4AA5-8D16-20D65CED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465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defPPr>
            <a:lvl1pPr>
              <a:defRPr sz="465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1pPr>
            <a:lvl2pPr>
              <a:defRPr sz="465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2pPr>
            <a:lvl3pPr>
              <a:defRPr sz="465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3pPr>
            <a:lvl4pPr>
              <a:defRPr sz="465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4pPr>
            <a:lvl5pPr>
              <a:defRPr sz="465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5pPr>
            <a:lvl6pPr>
              <a:defRPr sz="465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6pPr>
            <a:lvl7pPr>
              <a:defRPr sz="465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7pPr>
            <a:lvl8pPr>
              <a:defRPr sz="465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8pPr>
            <a:lvl9pPr>
              <a:defRPr sz="465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65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82D4A"/>
                </a:solidFill>
                <a:latin typeface="Arial"/>
                <a:ea typeface="Arial"/>
                <a:cs typeface="Arial"/>
              </a:rPr>
              <a:t>QueryCart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B6AA47-8720-4807-ACBF-95D964B02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71725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4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63549"/>
                </a:solidFill>
                <a:latin typeface="Arial"/>
                <a:ea typeface="Arial"/>
                <a:cs typeface="Arial"/>
              </a:rPr>
              <a:t>An English query interface for a small inventory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DF760C-AE50-4540-AEEC-3C06BCDB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549"/>
                </a:solidFill>
                <a:latin typeface="Arial"/>
                <a:ea typeface="Arial"/>
                <a:cs typeface="Arial"/>
              </a:rPr>
              <a:t>Natural Language Processing (702AI0C009)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73386F-293E-494F-B789-3CBCBC4F9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48175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549"/>
                </a:solidFill>
                <a:latin typeface="Arial"/>
                <a:ea typeface="Arial"/>
                <a:cs typeface="Arial"/>
              </a:rPr>
              <a:t>I081 Dhruv Paleja  |  I053 Manan Shah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948584-7D44-486A-A779-41C9D67C1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549"/>
                </a:solidFill>
                <a:latin typeface="Arial"/>
                <a:ea typeface="Arial"/>
                <a:cs typeface="Arial"/>
              </a:rPr>
              <a:t>Faculty: Dr. Ami Munshi</a:t>
            </a:r>
          </a:p>
        </p:txBody>
      </p:sp>
    </p:spTree>
    <p:extLst>
      <p:ext uri="{BB962C8B-B14F-4D97-AF65-F5344CB8AC3E}">
        <p14:creationId xmlns:p14="http://schemas.microsoft.com/office/powerpoint/2010/main" val="9809770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005D46-02FB-4148-A78F-00EE01720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D4A"/>
                </a:solidFill>
                <a:latin typeface="Arial"/>
                <a:ea typeface="Arial"/>
                <a:cs typeface="Arial"/>
              </a:rPr>
              <a:t>Problem and objectives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1737E1-CB2F-4FB2-8069-E4E147FAF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76375"/>
            <a:ext cx="10763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1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549"/>
                </a:solidFill>
                <a:latin typeface="Arial"/>
                <a:ea typeface="Arial"/>
                <a:cs typeface="Arial"/>
              </a:rPr>
              <a:t>A small-shop operator may need stock and price answers without writing SQL or spreadsheet formulas. A bounded language interface can make common inventory queries easier to express and inspect.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E0F97B-A104-41F6-B817-C78B99A7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90875"/>
            <a:ext cx="103822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54000" indent="-127000">
              <a:spcAft>
                <a:spcPts val="1800"/>
              </a:spcAft>
              <a:buChar char="•"/>
              <a:defRPr sz="225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263549"/>
                </a:solidFill>
                <a:latin typeface="Arial"/>
                <a:ea typeface="Arial"/>
                <a:cs typeface="Arial"/>
              </a:rPr>
              <a:t>Recognize supported list, filter, rank, count and aggregation questions.</a:t>
            </a:r>
          </a:p>
          <a:p xmlns:a="http://schemas.openxmlformats.org/drawingml/2006/main">
            <a:pPr marL="254000" indent="-127000">
              <a:spcAft>
                <a:spcPts val="1800"/>
              </a:spcAft>
              <a:buChar char="•"/>
              <a:defRPr sz="225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263549"/>
                </a:solidFill>
                <a:latin typeface="Arial"/>
                <a:ea typeface="Arial"/>
                <a:cs typeface="Arial"/>
              </a:rPr>
              <a:t>Show the interpreted intent, slots and equivalent SQL preview.</a:t>
            </a:r>
          </a:p>
          <a:p xmlns:a="http://schemas.openxmlformats.org/drawingml/2006/main">
            <a:pPr marL="254000" indent="-127000">
              <a:spcAft>
                <a:spcPts val="1800"/>
              </a:spcAft>
              <a:buChar char="•"/>
              <a:defRPr sz="225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263549"/>
                </a:solidFill>
                <a:latin typeface="Arial"/>
                <a:ea typeface="Arial"/>
                <a:cs typeface="Arial"/>
              </a:rPr>
              <a:t>Execute a read-only local query and export the result.</a:t>
            </a:r>
          </a:p>
        </p:txBody>
      </p:sp>
    </p:spTree>
    <p:extLst>
      <p:ext uri="{BB962C8B-B14F-4D97-AF65-F5344CB8AC3E}">
        <p14:creationId xmlns:p14="http://schemas.microsoft.com/office/powerpoint/2010/main" val="8439022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54DFDB-97C5-49B3-AFC3-318E4ADA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D4A"/>
                </a:solidFill>
                <a:latin typeface="Arial"/>
                <a:ea typeface="Arial"/>
                <a:cs typeface="Arial"/>
              </a:rPr>
              <a:t>Data and evaluation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037E98-95BB-43DA-82CA-08234F919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430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263549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263549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263549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263549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263549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263549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263549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263549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263549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2635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6354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63549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BF9551-C710-455D-904C-DAF5C98B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38350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1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549"/>
                </a:solidFill>
                <a:latin typeface="Arial"/>
                <a:ea typeface="Arial"/>
                <a:cs typeface="Arial"/>
              </a:rPr>
              <a:t>The demonstration inventory contains 24 fictional products and 288 physical units. Thirty-two original diagnostic questions include 20 supported questions and 12 unsupported requests.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76B1D4-2FFD-48DE-BCF3-4D6733FE5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576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263549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263549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263549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263549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263549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263549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263549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263549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263549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2635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6354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63549"/>
                </a:solidFill>
                <a:latin typeface="Arial"/>
                <a:ea typeface="Arial"/>
                <a:cs typeface="Arial"/>
              </a:rPr>
              <a:t>Evaluation design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24891C-533F-4345-9F7C-2AA8A925C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62450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549"/>
                </a:solidFill>
                <a:latin typeface="Arial"/>
                <a:ea typeface="Arial"/>
                <a:cs typeface="Arial"/>
              </a:rPr>
              <a:t>Evaluation checks exact results for supported fixtures and correct rejection for unsupported fixtures. It measures the documented grammar on authored cases, not accuracy on arbitrary natural-language questions.</a:t>
            </a:r>
          </a:p>
        </p:txBody>
      </p:sp>
    </p:spTree>
    <p:extLst>
      <p:ext uri="{BB962C8B-B14F-4D97-AF65-F5344CB8AC3E}">
        <p14:creationId xmlns:p14="http://schemas.microsoft.com/office/powerpoint/2010/main" val="18558627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1BD298-F800-45FD-A41C-E911CAA0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D4A"/>
                </a:solidFill>
                <a:latin typeface="Arial"/>
                <a:ea typeface="Arial"/>
                <a:cs typeface="Arial"/>
              </a:rPr>
              <a:t>NLP methodology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012FD2-7750-4DEE-9EE2-51B05AA32979}"/>
              </a:ext>
            </a:extLst>
          </p:cNvPr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108585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28875"/>
                <a:gridCol w="4095750"/>
                <a:gridCol w="4333875"/>
              </a:tblGrid>
              <a:tr h="6667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82D4A"/>
                          </a:solidFill>
                          <a:latin typeface="Arial"/>
                          <a:ea typeface="Arial"/>
                          <a:cs typeface="Arial"/>
                        </a:rPr>
                        <a:t>Stage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1DC"/>
                      </a:solidFill>
                      <a:prstDash val="solid"/>
                    </a:lnL>
                    <a:lnR w="9525">
                      <a:solidFill>
                        <a:srgbClr val="C9D1DC"/>
                      </a:solidFill>
                      <a:prstDash val="solid"/>
                    </a:lnR>
                    <a:lnT w="9525">
                      <a:solidFill>
                        <a:srgbClr val="C9D1DC"/>
                      </a:solidFill>
                      <a:prstDash val="solid"/>
                    </a:lnT>
                    <a:lnB w="9525">
                      <a:solidFill>
                        <a:srgbClr val="C9D1DC"/>
                      </a:solidFill>
                      <a:prstDash val="solid"/>
                    </a:lnB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82D4A"/>
                          </a:solidFill>
                          <a:latin typeface="Arial"/>
                          <a:ea typeface="Arial"/>
                          <a:cs typeface="Arial"/>
                        </a:rPr>
                        <a:t>Technique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1DC"/>
                      </a:solidFill>
                      <a:prstDash val="solid"/>
                    </a:lnR>
                    <a:lnT w="9525">
                      <a:solidFill>
                        <a:srgbClr val="C9D1DC"/>
                      </a:solidFill>
                      <a:prstDash val="solid"/>
                    </a:lnT>
                    <a:lnB w="9525">
                      <a:solidFill>
                        <a:srgbClr val="C9D1DC"/>
                      </a:solidFill>
                      <a:prstDash val="solid"/>
                    </a:lnB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82D4A"/>
                          </a:solidFill>
                          <a:latin typeface="Arial"/>
                          <a:ea typeface="Arial"/>
                          <a:cs typeface="Arial"/>
                        </a:rPr>
                        <a:t>Purpose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1DC"/>
                      </a:solidFill>
                      <a:prstDash val="solid"/>
                    </a:lnR>
                    <a:lnT w="9525">
                      <a:solidFill>
                        <a:srgbClr val="C9D1DC"/>
                      </a:solidFill>
                      <a:prstDash val="solid"/>
                    </a:lnT>
                    <a:lnB w="9525">
                      <a:solidFill>
                        <a:srgbClr val="C9D1DC"/>
                      </a:solidFill>
                      <a:prstDash val="solid"/>
                    </a:lnB>
                    <a:solidFill>
                      <a:srgbClr val="E8EDF4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D4A"/>
                          </a:solidFill>
                          <a:latin typeface="Arial"/>
                          <a:ea typeface="Arial"/>
                          <a:cs typeface="Arial"/>
                        </a:rPr>
                        <a:t>Normalize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1DC"/>
                      </a:solidFill>
                      <a:prstDash val="solid"/>
                    </a:lnL>
                    <a:lnR w="9525">
                      <a:solidFill>
                        <a:srgbClr val="C9D1DC"/>
                      </a:solidFill>
                      <a:prstDash val="solid"/>
                    </a:lnR>
                    <a:lnB w="9525">
                      <a:solidFill>
                        <a:srgbClr val="C9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D4A"/>
                          </a:solidFill>
                          <a:latin typeface="Arial"/>
                          <a:ea typeface="Arial"/>
                          <a:cs typeface="Arial"/>
                        </a:rPr>
                        <a:t>Unicode, case and whitespace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1DC"/>
                      </a:solidFill>
                      <a:prstDash val="solid"/>
                    </a:lnR>
                    <a:lnB w="9525">
                      <a:solidFill>
                        <a:srgbClr val="C9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D4A"/>
                          </a:solidFill>
                          <a:latin typeface="Arial"/>
                          <a:ea typeface="Arial"/>
                          <a:cs typeface="Arial"/>
                        </a:rPr>
                        <a:t>Match consistent surface forms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1DC"/>
                      </a:solidFill>
                      <a:prstDash val="solid"/>
                    </a:lnR>
                    <a:lnB w="9525">
                      <a:solidFill>
                        <a:srgbClr val="C9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D4A"/>
                          </a:solidFill>
                          <a:latin typeface="Arial"/>
                          <a:ea typeface="Arial"/>
                          <a:cs typeface="Arial"/>
                        </a:rPr>
                        <a:t>Parse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1DC"/>
                      </a:solidFill>
                      <a:prstDash val="solid"/>
                    </a:lnL>
                    <a:lnR w="9525">
                      <a:solidFill>
                        <a:srgbClr val="C9D1DC"/>
                      </a:solidFill>
                      <a:prstDash val="solid"/>
                    </a:lnR>
                    <a:lnB w="9525">
                      <a:solidFill>
                        <a:srgbClr val="C9D1DC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D4A"/>
                          </a:solidFill>
                          <a:latin typeface="Arial"/>
                          <a:ea typeface="Arial"/>
                          <a:cs typeface="Arial"/>
                        </a:rPr>
                        <a:t>Whole-query grammar; typed slots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1DC"/>
                      </a:solidFill>
                      <a:prstDash val="solid"/>
                    </a:lnR>
                    <a:lnB w="9525">
                      <a:solidFill>
                        <a:srgbClr val="C9D1DC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D4A"/>
                          </a:solidFill>
                          <a:latin typeface="Arial"/>
                          <a:ea typeface="Arial"/>
                          <a:cs typeface="Arial"/>
                        </a:rPr>
                        <a:t>Identify intent and parameters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1DC"/>
                      </a:solidFill>
                      <a:prstDash val="solid"/>
                    </a:lnR>
                    <a:lnB w="9525">
                      <a:solidFill>
                        <a:srgbClr val="C9D1DC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D4A"/>
                          </a:solidFill>
                          <a:latin typeface="Arial"/>
                          <a:ea typeface="Arial"/>
                          <a:cs typeface="Arial"/>
                        </a:rPr>
                        <a:t>Validate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1DC"/>
                      </a:solidFill>
                      <a:prstDash val="solid"/>
                    </a:lnL>
                    <a:lnR w="9525">
                      <a:solidFill>
                        <a:srgbClr val="C9D1DC"/>
                      </a:solidFill>
                      <a:prstDash val="solid"/>
                    </a:lnR>
                    <a:lnB w="9525">
                      <a:solidFill>
                        <a:srgbClr val="C9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D4A"/>
                          </a:solidFill>
                          <a:latin typeface="Arial"/>
                          <a:ea typeface="Arial"/>
                          <a:cs typeface="Arial"/>
                        </a:rPr>
                        <a:t>Category, ranges and CSV schema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1DC"/>
                      </a:solidFill>
                      <a:prstDash val="solid"/>
                    </a:lnR>
                    <a:lnB w="9525">
                      <a:solidFill>
                        <a:srgbClr val="C9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D4A"/>
                          </a:solidFill>
                          <a:latin typeface="Arial"/>
                          <a:ea typeface="Arial"/>
                          <a:cs typeface="Arial"/>
                        </a:rPr>
                        <a:t>Reject ambiguous requests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1DC"/>
                      </a:solidFill>
                      <a:prstDash val="solid"/>
                    </a:lnR>
                    <a:lnB w="9525">
                      <a:solidFill>
                        <a:srgbClr val="C9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D4A"/>
                          </a:solidFill>
                          <a:latin typeface="Arial"/>
                          <a:ea typeface="Arial"/>
                          <a:cs typeface="Arial"/>
                        </a:rPr>
                        <a:t>Execute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1DC"/>
                      </a:solidFill>
                      <a:prstDash val="solid"/>
                    </a:lnL>
                    <a:lnR w="9525">
                      <a:solidFill>
                        <a:srgbClr val="C9D1DC"/>
                      </a:solidFill>
                      <a:prstDash val="solid"/>
                    </a:lnR>
                    <a:lnB w="9525">
                      <a:solidFill>
                        <a:srgbClr val="C9D1DC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D4A"/>
                          </a:solidFill>
                          <a:latin typeface="Arial"/>
                          <a:ea typeface="Arial"/>
                          <a:cs typeface="Arial"/>
                        </a:rPr>
                        <a:t>Read-only local table operation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1DC"/>
                      </a:solidFill>
                      <a:prstDash val="solid"/>
                    </a:lnR>
                    <a:lnB w="9525">
                      <a:solidFill>
                        <a:srgbClr val="C9D1DC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D4A"/>
                          </a:solidFill>
                          <a:latin typeface="Arial"/>
                          <a:ea typeface="Arial"/>
                          <a:cs typeface="Arial"/>
                        </a:rPr>
                        <a:t>Compute exact results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1DC"/>
                      </a:solidFill>
                      <a:prstDash val="solid"/>
                    </a:lnR>
                    <a:lnB w="9525">
                      <a:solidFill>
                        <a:srgbClr val="C9D1DC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D4A"/>
                          </a:solidFill>
                          <a:latin typeface="Arial"/>
                          <a:ea typeface="Arial"/>
                          <a:cs typeface="Arial"/>
                        </a:rPr>
                        <a:t>Explain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1DC"/>
                      </a:solidFill>
                      <a:prstDash val="solid"/>
                    </a:lnL>
                    <a:lnR w="9525">
                      <a:solidFill>
                        <a:srgbClr val="C9D1DC"/>
                      </a:solidFill>
                      <a:prstDash val="solid"/>
                    </a:lnR>
                    <a:lnB w="9525">
                      <a:solidFill>
                        <a:srgbClr val="C9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D4A"/>
                          </a:solidFill>
                          <a:latin typeface="Arial"/>
                          <a:ea typeface="Arial"/>
                          <a:cs typeface="Arial"/>
                        </a:rPr>
                        <a:t>Plan, SQL preview and export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1DC"/>
                      </a:solidFill>
                      <a:prstDash val="solid"/>
                    </a:lnR>
                    <a:lnB w="9525">
                      <a:solidFill>
                        <a:srgbClr val="C9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D4A"/>
                          </a:solidFill>
                          <a:latin typeface="Arial"/>
                          <a:ea typeface="Arial"/>
                          <a:cs typeface="Arial"/>
                        </a:rPr>
                        <a:t>Make the interpretation visible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1DC"/>
                      </a:solidFill>
                      <a:prstDash val="solid"/>
                    </a:lnR>
                    <a:lnB w="9525">
                      <a:solidFill>
                        <a:srgbClr val="C9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D7F8D6-E020-4908-8A43-3A2BEBE4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0960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63549"/>
                </a:solidFill>
                <a:latin typeface="Arial"/>
                <a:ea typeface="Arial"/>
                <a:cs typeface="Arial"/>
              </a:rPr>
              <a:t>Symbolic semantic parsing uses complete grammar patterns and typed slots. The parsed plan is executed by JavaScript over a local CSV. The SQL preview is educational; no external database or trained text-to-SQL model is used.</a:t>
            </a:r>
          </a:p>
        </p:txBody>
      </p:sp>
    </p:spTree>
    <p:extLst>
      <p:ext uri="{BB962C8B-B14F-4D97-AF65-F5344CB8AC3E}">
        <p14:creationId xmlns:p14="http://schemas.microsoft.com/office/powerpoint/2010/main" val="19305959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B4585D-0197-4854-B068-0CCAB030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D4A"/>
                </a:solidFill>
                <a:latin typeface="Arial"/>
                <a:ea typeface="Arial"/>
                <a:cs typeface="Arial"/>
              </a:rPr>
              <a:t>Working example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C4F66D-C94A-4E14-8301-693321CC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14500"/>
            <a:ext cx="10668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55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63549"/>
                </a:solidFill>
                <a:latin typeface="Arial"/>
                <a:ea typeface="Arial"/>
                <a:cs typeface="Arial"/>
              </a:rPr>
              <a:t>Input: Show Electronics under 1000.</a:t>
            </a:r>
          </a:p>
          <a:p xmlns:a="http://schemas.openxmlformats.org/drawingml/2006/main">
            <a:pPr>
              <a:defRPr sz="255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63549"/>
                </a:solidFill>
                <a:latin typeface="Arial"/>
                <a:ea typeface="Arial"/>
                <a:cs typeface="Arial"/>
              </a:rPr>
              <a:t>Plan: category = Electronics and price &lt; 1000.</a:t>
            </a:r>
          </a:p>
          <a:p xmlns:a="http://schemas.openxmlformats.org/drawingml/2006/main">
            <a:pPr>
              <a:defRPr sz="255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63549"/>
                </a:solidFill>
                <a:latin typeface="Arial"/>
                <a:ea typeface="Arial"/>
                <a:cs typeface="Arial"/>
              </a:rPr>
              <a:t>Input: Total inventory value by category.</a:t>
            </a:r>
          </a:p>
          <a:p xmlns:a="http://schemas.openxmlformats.org/drawingml/2006/main">
            <a:pPr>
              <a:defRPr sz="255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63549"/>
                </a:solidFill>
                <a:latin typeface="Arial"/>
                <a:ea typeface="Arial"/>
                <a:cs typeface="Arial"/>
              </a:rPr>
              <a:t>Plan: group by category and sum stock multiplied by unit price.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698EF1-43B2-465B-8E88-C64075895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43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549"/>
                </a:solidFill>
                <a:latin typeface="Arial"/>
                <a:ea typeface="Arial"/>
                <a:cs typeface="Arial"/>
              </a:rPr>
              <a:t>Review the interpretation before using or exporting the result.</a:t>
            </a:r>
          </a:p>
        </p:txBody>
      </p:sp>
    </p:spTree>
    <p:extLst>
      <p:ext uri="{BB962C8B-B14F-4D97-AF65-F5344CB8AC3E}">
        <p14:creationId xmlns:p14="http://schemas.microsoft.com/office/powerpoint/2010/main" val="21402966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8ABE00-A756-4B40-88F6-A7E089EE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D4A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A608B4-6F65-41BC-A1BA-940FA36E2CF7}"/>
              </a:ext>
            </a:extLst>
          </p:cNvPr>
          <p:cNvGraphicFramePr/>
          <p:nvPr/>
        </p:nvGraphicFramePr>
        <p:xfrm>
          <a:off xmlns:a="http://schemas.openxmlformats.org/drawingml/2006/main" x="666750" y="1666875"/>
          <a:ext xmlns:a="http://schemas.openxmlformats.org/drawingml/2006/main" cx="108585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29250"/>
                <a:gridCol w="5429250"/>
              </a:tblGrid>
              <a:tr h="7620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82D4A"/>
                          </a:solidFill>
                          <a:latin typeface="Arial"/>
                          <a:ea typeface="Arial"/>
                          <a:cs typeface="Arial"/>
                        </a:rPr>
                        <a:t>Diagnostic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1DC"/>
                      </a:solidFill>
                      <a:prstDash val="solid"/>
                    </a:lnL>
                    <a:lnR w="9525">
                      <a:solidFill>
                        <a:srgbClr val="C9D1DC"/>
                      </a:solidFill>
                      <a:prstDash val="solid"/>
                    </a:lnR>
                    <a:lnT w="9525">
                      <a:solidFill>
                        <a:srgbClr val="C9D1DC"/>
                      </a:solidFill>
                      <a:prstDash val="solid"/>
                    </a:lnT>
                    <a:lnB w="9525">
                      <a:solidFill>
                        <a:srgbClr val="C9D1DC"/>
                      </a:solidFill>
                      <a:prstDash val="solid"/>
                    </a:lnB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82D4A"/>
                          </a:solidFill>
                          <a:latin typeface="Arial"/>
                          <a:ea typeface="Arial"/>
                          <a:cs typeface="Arial"/>
                        </a:rPr>
                        <a:t>Correct / total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1DC"/>
                      </a:solidFill>
                      <a:prstDash val="solid"/>
                    </a:lnR>
                    <a:lnT w="9525">
                      <a:solidFill>
                        <a:srgbClr val="C9D1DC"/>
                      </a:solidFill>
                      <a:prstDash val="solid"/>
                    </a:lnT>
                    <a:lnB w="9525">
                      <a:solidFill>
                        <a:srgbClr val="C9D1DC"/>
                      </a:solidFill>
                      <a:prstDash val="solid"/>
                    </a:lnB>
                    <a:solidFill>
                      <a:srgbClr val="E8EDF4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D4A"/>
                          </a:solidFill>
                          <a:latin typeface="Arial"/>
                          <a:ea typeface="Arial"/>
                          <a:cs typeface="Arial"/>
                        </a:rPr>
                        <a:t>Supported exact results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1DC"/>
                      </a:solidFill>
                      <a:prstDash val="solid"/>
                    </a:lnL>
                    <a:lnR w="9525">
                      <a:solidFill>
                        <a:srgbClr val="C9D1DC"/>
                      </a:solidFill>
                      <a:prstDash val="solid"/>
                    </a:lnR>
                    <a:lnB w="9525">
                      <a:solidFill>
                        <a:srgbClr val="C9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D4A"/>
                          </a:solidFill>
                          <a:latin typeface="Arial"/>
                          <a:ea typeface="Arial"/>
                          <a:cs typeface="Arial"/>
                        </a:rPr>
                        <a:t>20 / 20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1DC"/>
                      </a:solidFill>
                      <a:prstDash val="solid"/>
                    </a:lnR>
                    <a:lnB w="9525">
                      <a:solidFill>
                        <a:srgbClr val="C9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D4A"/>
                          </a:solidFill>
                          <a:latin typeface="Arial"/>
                          <a:ea typeface="Arial"/>
                          <a:cs typeface="Arial"/>
                        </a:rPr>
                        <a:t>Unsupported-query rejections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1DC"/>
                      </a:solidFill>
                      <a:prstDash val="solid"/>
                    </a:lnL>
                    <a:lnR w="9525">
                      <a:solidFill>
                        <a:srgbClr val="C9D1DC"/>
                      </a:solidFill>
                      <a:prstDash val="solid"/>
                    </a:lnR>
                    <a:lnB w="9525">
                      <a:solidFill>
                        <a:srgbClr val="C9D1DC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D4A"/>
                          </a:solidFill>
                          <a:latin typeface="Arial"/>
                          <a:ea typeface="Arial"/>
                          <a:cs typeface="Arial"/>
                        </a:rPr>
                        <a:t>12 / 12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1DC"/>
                      </a:solidFill>
                      <a:prstDash val="solid"/>
                    </a:lnR>
                    <a:lnB w="9525">
                      <a:solidFill>
                        <a:srgbClr val="C9D1DC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D4A"/>
                          </a:solidFill>
                          <a:latin typeface="Arial"/>
                          <a:ea typeface="Arial"/>
                          <a:cs typeface="Arial"/>
                        </a:rPr>
                        <a:t>All authored fixtures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1DC"/>
                      </a:solidFill>
                      <a:prstDash val="solid"/>
                    </a:lnL>
                    <a:lnR w="9525">
                      <a:solidFill>
                        <a:srgbClr val="C9D1DC"/>
                      </a:solidFill>
                      <a:prstDash val="solid"/>
                    </a:lnR>
                    <a:lnB w="9525">
                      <a:solidFill>
                        <a:srgbClr val="C9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D4A"/>
                          </a:solidFill>
                          <a:latin typeface="Arial"/>
                          <a:ea typeface="Arial"/>
                          <a:cs typeface="Arial"/>
                        </a:rPr>
                        <a:t>32 / 32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1DC"/>
                      </a:solidFill>
                      <a:prstDash val="solid"/>
                    </a:lnR>
                    <a:lnB w="9525">
                      <a:solidFill>
                        <a:srgbClr val="C9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016DF9-E685-417F-BF19-803D55AE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911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549"/>
                </a:solidFill>
                <a:latin typeface="Arial"/>
                <a:ea typeface="Arial"/>
                <a:cs typeface="Arial"/>
              </a:rPr>
              <a:t>These 32 authored checks validate the intended grammar. They do not establish accuracy for arbitrary phrasing.</a:t>
            </a:r>
          </a:p>
        </p:txBody>
      </p:sp>
    </p:spTree>
    <p:extLst>
      <p:ext uri="{BB962C8B-B14F-4D97-AF65-F5344CB8AC3E}">
        <p14:creationId xmlns:p14="http://schemas.microsoft.com/office/powerpoint/2010/main" val="2180869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844DB2-CC75-4BDD-B84D-0B0209D3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D4A"/>
                </a:solidFill>
                <a:latin typeface="Arial"/>
                <a:ea typeface="Arial"/>
                <a:cs typeface="Arial"/>
              </a:rPr>
              <a:t>Limitations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1F0233-9464-4A91-BFFB-F38952BD7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10382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54000" indent="-127000">
              <a:spcAft>
                <a:spcPts val="1800"/>
              </a:spcAft>
              <a:buChar char="•"/>
              <a:defRPr sz="225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263549"/>
                </a:solidFill>
                <a:latin typeface="Arial"/>
                <a:ea typeface="Arial"/>
                <a:cs typeface="Arial"/>
              </a:rPr>
              <a:t>Only documented English grammar is supported.</a:t>
            </a:r>
          </a:p>
          <a:p xmlns:a="http://schemas.openxmlformats.org/drawingml/2006/main">
            <a:pPr marL="254000" indent="-127000">
              <a:spcAft>
                <a:spcPts val="1800"/>
              </a:spcAft>
              <a:buChar char="•"/>
              <a:defRPr sz="225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263549"/>
                </a:solidFill>
                <a:latin typeface="Arial"/>
                <a:ea typeface="Arial"/>
                <a:cs typeface="Arial"/>
              </a:rPr>
              <a:t>Questions such as Anything running out? can be meaningful but unsupported.</a:t>
            </a:r>
          </a:p>
          <a:p xmlns:a="http://schemas.openxmlformats.org/drawingml/2006/main">
            <a:pPr marL="254000" indent="-127000">
              <a:spcAft>
                <a:spcPts val="1800"/>
              </a:spcAft>
              <a:buChar char="•"/>
              <a:defRPr sz="225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263549"/>
                </a:solidFill>
                <a:latin typeface="Arial"/>
                <a:ea typeface="Arial"/>
                <a:cs typeface="Arial"/>
              </a:rPr>
              <a:t>No write queries, forecasts, sales history, arbitrary joins or currency conversion.</a:t>
            </a:r>
          </a:p>
          <a:p xmlns:a="http://schemas.openxmlformats.org/drawingml/2006/main">
            <a:pPr marL="254000" indent="-127000">
              <a:spcAft>
                <a:spcPts val="1800"/>
              </a:spcAft>
              <a:buChar char="•"/>
              <a:defRPr sz="225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263549"/>
                </a:solidFill>
                <a:latin typeface="Arial"/>
                <a:ea typeface="Arial"/>
                <a:cs typeface="Arial"/>
              </a:rPr>
              <a:t>The SQL preview is not a receipt of database execution.</a:t>
            </a:r>
          </a:p>
        </p:txBody>
      </p:sp>
    </p:spTree>
    <p:extLst>
      <p:ext uri="{BB962C8B-B14F-4D97-AF65-F5344CB8AC3E}">
        <p14:creationId xmlns:p14="http://schemas.microsoft.com/office/powerpoint/2010/main" val="7558903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E36867-6721-4BC6-98A3-0B9AA23BD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2D4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D4A"/>
                </a:solidFill>
                <a:latin typeface="Arial"/>
                <a:ea typeface="Arial"/>
                <a:cs typeface="Arial"/>
              </a:rPr>
              <a:t>Conclusion and references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12EF18-1581-4EA4-AC43-0FB409CB7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66875"/>
            <a:ext cx="1066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4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63549"/>
                </a:solidFill>
                <a:latin typeface="Arial"/>
                <a:ea typeface="Arial"/>
                <a:cs typeface="Arial"/>
              </a:rPr>
              <a:t>A typed query plan connects a small natural-language grammar to useful inventory operations. Exact rejection behavior is valuable because an apparently plausible table can otherwise hide a misunderstood request.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107CC9-5D3F-469E-8417-D3120689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290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263549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263549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263549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263549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263549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263549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263549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263549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263549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2635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6354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63549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67CBD0-B868-4723-BEAC-1AE0CAE72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33875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549"/>
                </a:solidFill>
                <a:latin typeface="Arial"/>
                <a:ea typeface="Arial"/>
                <a:cs typeface="Arial"/>
              </a:rPr>
              <a:t>Jurafsky and Martin, Speech and Language Processing</a:t>
            </a:r>
          </a:p>
          <a:p xmlns:a="http://schemas.openxmlformats.org/drawingml/2006/main">
            <a:pPr>
              <a:defRPr sz="18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549"/>
                </a:solidFill>
                <a:latin typeface="Arial"/>
                <a:ea typeface="Arial"/>
                <a:cs typeface="Arial"/>
              </a:rPr>
              <a:t>SQLite SELECT documentation</a:t>
            </a:r>
          </a:p>
          <a:p xmlns:a="http://schemas.openxmlformats.org/drawingml/2006/main">
            <a:pPr>
              <a:defRPr sz="18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549"/>
                </a:solidFill>
                <a:latin typeface="Arial"/>
                <a:ea typeface="Arial"/>
                <a:cs typeface="Arial"/>
              </a:rPr>
              <a:t>Live demo: querycart-dhruv.vercel.app</a:t>
            </a:r>
          </a:p>
          <a:p xmlns:a="http://schemas.openxmlformats.org/drawingml/2006/main">
            <a:pPr>
              <a:defRPr sz="1875" b="0">
                <a:solidFill>
                  <a:srgbClr val="2635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549"/>
                </a:solidFill>
                <a:latin typeface="Arial"/>
                <a:ea typeface="Arial"/>
                <a:cs typeface="Arial"/>
              </a:rPr>
              <a:t>Source code: github.com/dhruvpaleja/querycart-nlp</a:t>
            </a:r>
          </a:p>
        </p:txBody>
      </p:sp>
    </p:spTree>
    <p:extLst>
      <p:ext uri="{BB962C8B-B14F-4D97-AF65-F5344CB8AC3E}">
        <p14:creationId xmlns:p14="http://schemas.microsoft.com/office/powerpoint/2010/main" val="11284202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2026-10-20T12:41:51.0820000Z</dcterms:created>
  <dcterms:modified xsi:type="dcterms:W3CDTF">2026-10-20T12:41:51.0820000Z</dcterms:modified>
</coreProperties>
</file>